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ikhilmadaan2024-star/Seasonal-Agriculture-Performances-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474" y="3588198"/>
            <a:ext cx="3400089" cy="861497"/>
          </a:xfrm>
        </p:spPr>
        <p:txBody>
          <a:bodyPr vert="horz" lIns="91440" tIns="45720" rIns="91440" bIns="45720" rtlCol="0" anchor="t">
            <a:normAutofit fontScale="77500" lnSpcReduction="20000"/>
          </a:bodyPr>
          <a:lstStyle/>
          <a:p>
            <a:pPr algn="r"/>
            <a:r>
              <a:rPr lang="en-US" b="0" dirty="0">
                <a:solidFill>
                  <a:schemeClr val="tx1"/>
                </a:solidFill>
              </a:rPr>
              <a:t>[</a:t>
            </a:r>
            <a:r>
              <a:rPr lang="en-US" sz="2400" dirty="0">
                <a:solidFill>
                  <a:schemeClr val="tx1"/>
                </a:solidFill>
                <a:highlight>
                  <a:srgbClr val="00FF00"/>
                </a:highlight>
              </a:rPr>
              <a:t>NIKHIL MADAAN </a:t>
            </a:r>
            <a:endParaRPr lang="en-IN" dirty="0">
              <a:solidFill>
                <a:schemeClr val="tx1"/>
              </a:solidFill>
              <a:highlight>
                <a:srgbClr val="00FF00"/>
              </a:highlight>
            </a:endParaRPr>
          </a:p>
          <a:p>
            <a:pPr algn="r"/>
            <a:r>
              <a:rPr lang="en-US" b="0" dirty="0">
                <a:solidFill>
                  <a:schemeClr val="tx1"/>
                </a:solidFill>
              </a:rPr>
              <a:t>College Name - Om Sterling Global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3745224" cy="646331"/>
          </a:xfrm>
          <a:prstGeom prst="rect">
            <a:avLst/>
          </a:prstGeom>
          <a:noFill/>
        </p:spPr>
        <p:txBody>
          <a:bodyPr wrap="square" rtlCol="0">
            <a:spAutoFit/>
          </a:bodyPr>
          <a:lstStyle/>
          <a:p>
            <a:r>
              <a:rPr lang="en-US" b="1" dirty="0"/>
              <a:t>AICTE STU ID : (</a:t>
            </a:r>
            <a:r>
              <a:rPr lang="en-IN" dirty="0">
                <a:highlight>
                  <a:srgbClr val="FFFF00"/>
                </a:highlight>
              </a:rPr>
              <a:t>STU6a6b4eb4a05bb1785417396</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152020"/>
          </a:xfrm>
        </p:spPr>
        <p:txBody>
          <a:bodyPr vert="horz" lIns="91440" tIns="45720" rIns="91440" bIns="45720" rtlCol="0" anchor="t">
            <a:normAutofit fontScale="62500" lnSpcReduction="20000"/>
          </a:bodyPr>
          <a:lstStyle/>
          <a:p>
            <a:r>
              <a:rPr lang="en-IN" sz="2800" dirty="0"/>
              <a:t>Agriculture depends on many things like season, weather, crops, water, fertilizer, and farming methods. Due to these factors, crop yield, production, and profit can change from one season to another. Different crops and areas may also give different results. It is difficult to understand all these changes just by looking at raw data.</a:t>
            </a:r>
          </a:p>
          <a:p>
            <a:r>
              <a:rPr lang="en-IN" sz="2800" dirty="0"/>
              <a:t>This project focuses on studying agricultural data from different seasons, states, districts, and crops. It looks at factors such as rainfall, temperature, soil conditions, irrigation, fertilizer, water usage, market price, revenue, and profit. The main aim is to find useful patterns and relationships in the data and understand which seasons, crops, and farming conditions show better performance. The results can help in better understanding of agricultural performance and support better planning for future farming activities.</a:t>
            </a:r>
          </a:p>
          <a:p>
            <a:pPr>
              <a:lnSpc>
                <a:spcPct val="100000"/>
              </a:lnSpc>
            </a:pPr>
            <a:r>
              <a:rPr lang="en-US" sz="2800" dirty="0"/>
              <a:t>.</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700" dirty="0"/>
              <a:t>This project </a:t>
            </a:r>
            <a:r>
              <a:rPr lang="en-IN" sz="2700" dirty="0" err="1"/>
              <a:t>analyzes</a:t>
            </a:r>
            <a:r>
              <a:rPr lang="en-IN" sz="2700" dirty="0"/>
              <a:t> agricultural data across different seasons, crops, states, and farming conditions. It studies yield, production, environmental factors, resource usage, irrigation, market prices, revenue, and profit to identify meaningful patterns and relationships. The analysis uses Python, statistical methods, and data visualizations to understand seasonal  performance and provide evidence-based insights for better agricultural planning.</a:t>
            </a: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177799"/>
          </a:xfrm>
        </p:spPr>
        <p:txBody>
          <a:bodyPr>
            <a:normAutofit fontScale="47500" lnSpcReduction="20000"/>
          </a:bodyPr>
          <a:lstStyle/>
          <a:p>
            <a:pPr lvl="0"/>
            <a:r>
              <a:rPr lang="en-IN" sz="3600" b="1" dirty="0"/>
              <a:t>Farmers</a:t>
            </a:r>
            <a:r>
              <a:rPr lang="en-IN" sz="3600" dirty="0"/>
              <a:t> – To understand which crops perform better in different seasons. </a:t>
            </a:r>
          </a:p>
          <a:p>
            <a:pPr lvl="0"/>
            <a:r>
              <a:rPr lang="en-IN" sz="3600" b="1" dirty="0"/>
              <a:t>Agricultural Planners</a:t>
            </a:r>
            <a:r>
              <a:rPr lang="en-IN" sz="3600" dirty="0"/>
              <a:t> – To plan farming activities based on seasonal results. </a:t>
            </a:r>
          </a:p>
          <a:p>
            <a:pPr lvl="0"/>
            <a:r>
              <a:rPr lang="en-IN" sz="3600" b="1" dirty="0"/>
              <a:t>Researchers</a:t>
            </a:r>
            <a:r>
              <a:rPr lang="en-IN" sz="3600" dirty="0"/>
              <a:t> – To study crop, weather, and farming patterns. </a:t>
            </a:r>
          </a:p>
          <a:p>
            <a:pPr lvl="0"/>
            <a:r>
              <a:rPr lang="en-IN" sz="3600" b="1" dirty="0"/>
              <a:t>Agricultural Analysts</a:t>
            </a:r>
            <a:r>
              <a:rPr lang="en-IN" sz="3600" dirty="0"/>
              <a:t> – To compare crops, states, and seasons using data. </a:t>
            </a:r>
          </a:p>
          <a:p>
            <a:pPr lvl="0"/>
            <a:r>
              <a:rPr lang="en-IN" sz="3600" b="1" dirty="0"/>
              <a:t>Irrigation Managers</a:t>
            </a:r>
            <a:r>
              <a:rPr lang="en-IN" sz="3600" dirty="0"/>
              <a:t> – To understand water usage and irrigation performance. </a:t>
            </a:r>
          </a:p>
          <a:p>
            <a:pPr lvl="0"/>
            <a:r>
              <a:rPr lang="en-IN" sz="3600" b="1" dirty="0"/>
              <a:t>Government Departments</a:t>
            </a:r>
            <a:r>
              <a:rPr lang="en-IN" sz="3600" dirty="0"/>
              <a:t> – To support better agricultural planning and decisions. </a:t>
            </a:r>
          </a:p>
          <a:p>
            <a:pPr lvl="0"/>
            <a:r>
              <a:rPr lang="en-IN" sz="3600" b="1" dirty="0"/>
              <a:t>Resource Managers</a:t>
            </a:r>
            <a:r>
              <a:rPr lang="en-IN" sz="3600" dirty="0"/>
              <a:t> – To understand the use of water, fertilizer, and pesticides.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167013"/>
            <a:ext cx="9027702" cy="5243448"/>
          </a:xfrm>
        </p:spPr>
        <p:txBody>
          <a:bodyPr/>
          <a:lstStyle/>
          <a:p>
            <a:pPr lvl="0"/>
            <a:r>
              <a:rPr lang="en-IN" b="1" dirty="0"/>
              <a:t>Python</a:t>
            </a:r>
            <a:r>
              <a:rPr lang="en-IN" dirty="0"/>
              <a:t> – Used for performing the overall data analysis. </a:t>
            </a:r>
          </a:p>
          <a:p>
            <a:pPr lvl="0"/>
            <a:r>
              <a:rPr lang="en-IN" b="1" dirty="0"/>
              <a:t>Pandas</a:t>
            </a:r>
            <a:r>
              <a:rPr lang="en-IN" dirty="0"/>
              <a:t> – Used for loading, cleaning, and </a:t>
            </a:r>
            <a:r>
              <a:rPr lang="en-IN" dirty="0" err="1"/>
              <a:t>analyzing</a:t>
            </a:r>
            <a:r>
              <a:rPr lang="en-IN" dirty="0"/>
              <a:t> the dataset. </a:t>
            </a:r>
          </a:p>
          <a:p>
            <a:pPr lvl="0"/>
            <a:r>
              <a:rPr lang="en-IN" b="1" dirty="0"/>
              <a:t>NumPy</a:t>
            </a:r>
            <a:r>
              <a:rPr lang="en-IN" dirty="0"/>
              <a:t> – Used for numerical calculations. </a:t>
            </a:r>
          </a:p>
          <a:p>
            <a:pPr lvl="0"/>
            <a:r>
              <a:rPr lang="en-IN" b="1" dirty="0"/>
              <a:t>Matplotlib</a:t>
            </a:r>
            <a:r>
              <a:rPr lang="en-IN" dirty="0"/>
              <a:t> – Used to create charts and graphs. </a:t>
            </a:r>
          </a:p>
          <a:p>
            <a:pPr lvl="0"/>
            <a:r>
              <a:rPr lang="en-IN" b="1" dirty="0"/>
              <a:t>Seaborn</a:t>
            </a:r>
            <a:r>
              <a:rPr lang="en-IN" dirty="0"/>
              <a:t> – Used to create attractive data visualizations and heatmaps. </a:t>
            </a:r>
          </a:p>
          <a:p>
            <a:pPr lvl="0"/>
            <a:r>
              <a:rPr lang="en-IN" b="1" dirty="0"/>
              <a:t>SciPy</a:t>
            </a:r>
            <a:r>
              <a:rPr lang="en-IN" dirty="0"/>
              <a:t> – Used for statistical analysis such as ANOVA. </a:t>
            </a:r>
          </a:p>
          <a:p>
            <a:pPr lvl="0"/>
            <a:r>
              <a:rPr lang="en-IN" b="1" dirty="0"/>
              <a:t>Jupyter Notebook / Google </a:t>
            </a:r>
            <a:r>
              <a:rPr lang="en-IN" b="1" dirty="0" err="1"/>
              <a:t>Colab</a:t>
            </a:r>
            <a:r>
              <a:rPr lang="en-IN" dirty="0"/>
              <a:t> – Used to write, run, and document the complete analysis. </a:t>
            </a:r>
          </a:p>
          <a:p>
            <a:pPr lvl="0"/>
            <a:r>
              <a:rPr lang="en-IN" b="1" dirty="0"/>
              <a:t>CSV Dataset</a:t>
            </a:r>
            <a:r>
              <a:rPr lang="en-IN" dirty="0"/>
              <a:t> – Used as the main source of agricultural data.</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14B06E8-3D11-7E3D-2B47-713367CCE975}"/>
              </a:ext>
            </a:extLst>
          </p:cNvPr>
          <p:cNvPicPr>
            <a:picLocks noChangeAspect="1"/>
          </p:cNvPicPr>
          <p:nvPr/>
        </p:nvPicPr>
        <p:blipFill>
          <a:blip r:embed="rId3"/>
          <a:stretch>
            <a:fillRect/>
          </a:stretch>
        </p:blipFill>
        <p:spPr>
          <a:xfrm>
            <a:off x="81765" y="1201586"/>
            <a:ext cx="3821993" cy="2472612"/>
          </a:xfrm>
          <a:prstGeom prst="rect">
            <a:avLst/>
          </a:prstGeom>
        </p:spPr>
      </p:pic>
      <p:pic>
        <p:nvPicPr>
          <p:cNvPr id="9" name="Picture 8">
            <a:extLst>
              <a:ext uri="{FF2B5EF4-FFF2-40B4-BE49-F238E27FC236}">
                <a16:creationId xmlns:a16="http://schemas.microsoft.com/office/drawing/2014/main" id="{EEB3C3E3-F3A9-A1DD-0E88-B2B32A5CEB0B}"/>
              </a:ext>
            </a:extLst>
          </p:cNvPr>
          <p:cNvPicPr>
            <a:picLocks noChangeAspect="1"/>
          </p:cNvPicPr>
          <p:nvPr/>
        </p:nvPicPr>
        <p:blipFill>
          <a:blip r:embed="rId4"/>
          <a:stretch>
            <a:fillRect/>
          </a:stretch>
        </p:blipFill>
        <p:spPr>
          <a:xfrm>
            <a:off x="4749281" y="218489"/>
            <a:ext cx="5383764" cy="3445919"/>
          </a:xfrm>
          <a:prstGeom prst="rect">
            <a:avLst/>
          </a:prstGeom>
        </p:spPr>
      </p:pic>
      <p:pic>
        <p:nvPicPr>
          <p:cNvPr id="11" name="Picture 10">
            <a:extLst>
              <a:ext uri="{FF2B5EF4-FFF2-40B4-BE49-F238E27FC236}">
                <a16:creationId xmlns:a16="http://schemas.microsoft.com/office/drawing/2014/main" id="{141A5668-08B1-8B42-8400-D626DBB0851D}"/>
              </a:ext>
            </a:extLst>
          </p:cNvPr>
          <p:cNvPicPr>
            <a:picLocks noChangeAspect="1"/>
          </p:cNvPicPr>
          <p:nvPr/>
        </p:nvPicPr>
        <p:blipFill>
          <a:blip r:embed="rId5"/>
          <a:stretch>
            <a:fillRect/>
          </a:stretch>
        </p:blipFill>
        <p:spPr>
          <a:xfrm>
            <a:off x="168246" y="3854319"/>
            <a:ext cx="5301672" cy="2714121"/>
          </a:xfrm>
          <a:prstGeom prst="rect">
            <a:avLst/>
          </a:prstGeom>
        </p:spPr>
      </p:pic>
      <p:pic>
        <p:nvPicPr>
          <p:cNvPr id="13" name="Picture 12">
            <a:extLst>
              <a:ext uri="{FF2B5EF4-FFF2-40B4-BE49-F238E27FC236}">
                <a16:creationId xmlns:a16="http://schemas.microsoft.com/office/drawing/2014/main" id="{9C2DD60E-70E0-E3FE-F36B-7959901146DF}"/>
              </a:ext>
            </a:extLst>
          </p:cNvPr>
          <p:cNvPicPr>
            <a:picLocks noChangeAspect="1"/>
          </p:cNvPicPr>
          <p:nvPr/>
        </p:nvPicPr>
        <p:blipFill>
          <a:blip r:embed="rId6"/>
          <a:stretch>
            <a:fillRect/>
          </a:stretch>
        </p:blipFill>
        <p:spPr>
          <a:xfrm>
            <a:off x="6242180" y="3854319"/>
            <a:ext cx="4305354" cy="256765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7F95419-0BEA-6E57-DFAF-A069E6E4DBEC}"/>
              </a:ext>
            </a:extLst>
          </p:cNvPr>
          <p:cNvPicPr>
            <a:picLocks noChangeAspect="1"/>
          </p:cNvPicPr>
          <p:nvPr/>
        </p:nvPicPr>
        <p:blipFill>
          <a:blip r:embed="rId3"/>
          <a:stretch>
            <a:fillRect/>
          </a:stretch>
        </p:blipFill>
        <p:spPr>
          <a:xfrm>
            <a:off x="320982" y="1201587"/>
            <a:ext cx="4823927" cy="2521327"/>
          </a:xfrm>
          <a:prstGeom prst="rect">
            <a:avLst/>
          </a:prstGeom>
        </p:spPr>
      </p:pic>
      <p:pic>
        <p:nvPicPr>
          <p:cNvPr id="9" name="Picture 8">
            <a:extLst>
              <a:ext uri="{FF2B5EF4-FFF2-40B4-BE49-F238E27FC236}">
                <a16:creationId xmlns:a16="http://schemas.microsoft.com/office/drawing/2014/main" id="{EE5355C0-3CC5-C2C4-1B71-034CDCE5C43A}"/>
              </a:ext>
            </a:extLst>
          </p:cNvPr>
          <p:cNvPicPr>
            <a:picLocks noChangeAspect="1"/>
          </p:cNvPicPr>
          <p:nvPr/>
        </p:nvPicPr>
        <p:blipFill>
          <a:blip r:embed="rId4"/>
          <a:stretch>
            <a:fillRect/>
          </a:stretch>
        </p:blipFill>
        <p:spPr>
          <a:xfrm>
            <a:off x="5763453" y="139959"/>
            <a:ext cx="4650259" cy="3517641"/>
          </a:xfrm>
          <a:prstGeom prst="rect">
            <a:avLst/>
          </a:prstGeom>
        </p:spPr>
      </p:pic>
      <p:pic>
        <p:nvPicPr>
          <p:cNvPr id="12" name="Picture 11">
            <a:extLst>
              <a:ext uri="{FF2B5EF4-FFF2-40B4-BE49-F238E27FC236}">
                <a16:creationId xmlns:a16="http://schemas.microsoft.com/office/drawing/2014/main" id="{ED0BB72E-929D-D4C8-A1A5-A50FC427C2D6}"/>
              </a:ext>
            </a:extLst>
          </p:cNvPr>
          <p:cNvPicPr>
            <a:picLocks noChangeAspect="1"/>
          </p:cNvPicPr>
          <p:nvPr/>
        </p:nvPicPr>
        <p:blipFill>
          <a:blip r:embed="rId5"/>
          <a:stretch>
            <a:fillRect/>
          </a:stretch>
        </p:blipFill>
        <p:spPr>
          <a:xfrm>
            <a:off x="217279" y="3950592"/>
            <a:ext cx="5194476" cy="2608827"/>
          </a:xfrm>
          <a:prstGeom prst="rect">
            <a:avLst/>
          </a:prstGeom>
        </p:spPr>
      </p:pic>
      <p:pic>
        <p:nvPicPr>
          <p:cNvPr id="14" name="Picture 13">
            <a:extLst>
              <a:ext uri="{FF2B5EF4-FFF2-40B4-BE49-F238E27FC236}">
                <a16:creationId xmlns:a16="http://schemas.microsoft.com/office/drawing/2014/main" id="{A519DE79-AB75-8C78-C5E4-19ACD0EA6738}"/>
              </a:ext>
            </a:extLst>
          </p:cNvPr>
          <p:cNvPicPr>
            <a:picLocks noChangeAspect="1"/>
          </p:cNvPicPr>
          <p:nvPr/>
        </p:nvPicPr>
        <p:blipFill>
          <a:blip r:embed="rId6"/>
          <a:stretch>
            <a:fillRect/>
          </a:stretch>
        </p:blipFill>
        <p:spPr>
          <a:xfrm>
            <a:off x="6096000" y="3969254"/>
            <a:ext cx="5194476" cy="275546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2635832"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F942614C-18CB-971B-170C-3FC71A4B19EB}"/>
              </a:ext>
            </a:extLst>
          </p:cNvPr>
          <p:cNvPicPr>
            <a:picLocks noChangeAspect="1"/>
          </p:cNvPicPr>
          <p:nvPr/>
        </p:nvPicPr>
        <p:blipFill>
          <a:blip r:embed="rId3"/>
          <a:stretch>
            <a:fillRect/>
          </a:stretch>
        </p:blipFill>
        <p:spPr>
          <a:xfrm>
            <a:off x="320982" y="1275371"/>
            <a:ext cx="4060328" cy="2491274"/>
          </a:xfrm>
          <a:prstGeom prst="rect">
            <a:avLst/>
          </a:prstGeom>
        </p:spPr>
      </p:pic>
      <p:pic>
        <p:nvPicPr>
          <p:cNvPr id="9" name="Picture 8">
            <a:extLst>
              <a:ext uri="{FF2B5EF4-FFF2-40B4-BE49-F238E27FC236}">
                <a16:creationId xmlns:a16="http://schemas.microsoft.com/office/drawing/2014/main" id="{B7450D62-F196-BFD0-9CF0-1FB3124F2EF9}"/>
              </a:ext>
            </a:extLst>
          </p:cNvPr>
          <p:cNvPicPr>
            <a:picLocks noChangeAspect="1"/>
          </p:cNvPicPr>
          <p:nvPr/>
        </p:nvPicPr>
        <p:blipFill>
          <a:blip r:embed="rId4"/>
          <a:stretch>
            <a:fillRect/>
          </a:stretch>
        </p:blipFill>
        <p:spPr>
          <a:xfrm>
            <a:off x="4425551" y="3096739"/>
            <a:ext cx="3340898" cy="664522"/>
          </a:xfrm>
          <a:prstGeom prst="rect">
            <a:avLst/>
          </a:prstGeom>
        </p:spPr>
      </p:pic>
      <p:pic>
        <p:nvPicPr>
          <p:cNvPr id="12" name="Picture 11">
            <a:extLst>
              <a:ext uri="{FF2B5EF4-FFF2-40B4-BE49-F238E27FC236}">
                <a16:creationId xmlns:a16="http://schemas.microsoft.com/office/drawing/2014/main" id="{207B6684-26ED-8BEC-9C21-90F4D6AD3DDF}"/>
              </a:ext>
            </a:extLst>
          </p:cNvPr>
          <p:cNvPicPr>
            <a:picLocks noChangeAspect="1"/>
          </p:cNvPicPr>
          <p:nvPr/>
        </p:nvPicPr>
        <p:blipFill>
          <a:blip r:embed="rId5"/>
          <a:stretch>
            <a:fillRect/>
          </a:stretch>
        </p:blipFill>
        <p:spPr>
          <a:xfrm>
            <a:off x="5483292" y="72656"/>
            <a:ext cx="6102220" cy="3240895"/>
          </a:xfrm>
          <a:prstGeom prst="rect">
            <a:avLst/>
          </a:prstGeom>
        </p:spPr>
      </p:pic>
      <p:pic>
        <p:nvPicPr>
          <p:cNvPr id="14" name="Picture 13">
            <a:extLst>
              <a:ext uri="{FF2B5EF4-FFF2-40B4-BE49-F238E27FC236}">
                <a16:creationId xmlns:a16="http://schemas.microsoft.com/office/drawing/2014/main" id="{923F8AB4-73D2-DB70-D5B4-D869E55085B1}"/>
              </a:ext>
            </a:extLst>
          </p:cNvPr>
          <p:cNvPicPr>
            <a:picLocks noChangeAspect="1"/>
          </p:cNvPicPr>
          <p:nvPr/>
        </p:nvPicPr>
        <p:blipFill>
          <a:blip r:embed="rId6"/>
          <a:stretch>
            <a:fillRect/>
          </a:stretch>
        </p:blipFill>
        <p:spPr>
          <a:xfrm>
            <a:off x="5761199" y="3640968"/>
            <a:ext cx="5969860" cy="2927472"/>
          </a:xfrm>
          <a:prstGeom prst="rect">
            <a:avLst/>
          </a:prstGeom>
        </p:spPr>
      </p:pic>
      <p:pic>
        <p:nvPicPr>
          <p:cNvPr id="16" name="Picture 15">
            <a:extLst>
              <a:ext uri="{FF2B5EF4-FFF2-40B4-BE49-F238E27FC236}">
                <a16:creationId xmlns:a16="http://schemas.microsoft.com/office/drawing/2014/main" id="{47892D75-6886-ECAC-3C43-C6870FE46D76}"/>
              </a:ext>
            </a:extLst>
          </p:cNvPr>
          <p:cNvPicPr>
            <a:picLocks noChangeAspect="1"/>
          </p:cNvPicPr>
          <p:nvPr/>
        </p:nvPicPr>
        <p:blipFill>
          <a:blip r:embed="rId7"/>
          <a:stretch>
            <a:fillRect/>
          </a:stretch>
        </p:blipFill>
        <p:spPr>
          <a:xfrm>
            <a:off x="1158364" y="3958837"/>
            <a:ext cx="3578199" cy="260960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8F94BD7-2E67-7B78-5EAA-D91E96FB4298}"/>
              </a:ext>
            </a:extLst>
          </p:cNvPr>
          <p:cNvPicPr>
            <a:picLocks noChangeAspect="1"/>
          </p:cNvPicPr>
          <p:nvPr/>
        </p:nvPicPr>
        <p:blipFill>
          <a:blip r:embed="rId3"/>
          <a:stretch>
            <a:fillRect/>
          </a:stretch>
        </p:blipFill>
        <p:spPr>
          <a:xfrm>
            <a:off x="320982" y="1120750"/>
            <a:ext cx="9451910" cy="2897841"/>
          </a:xfrm>
          <a:prstGeom prst="rect">
            <a:avLst/>
          </a:prstGeom>
        </p:spPr>
      </p:pic>
      <p:pic>
        <p:nvPicPr>
          <p:cNvPr id="9" name="Picture 8">
            <a:extLst>
              <a:ext uri="{FF2B5EF4-FFF2-40B4-BE49-F238E27FC236}">
                <a16:creationId xmlns:a16="http://schemas.microsoft.com/office/drawing/2014/main" id="{740F076F-A533-7818-401E-A8970F426350}"/>
              </a:ext>
            </a:extLst>
          </p:cNvPr>
          <p:cNvPicPr>
            <a:picLocks noChangeAspect="1"/>
          </p:cNvPicPr>
          <p:nvPr/>
        </p:nvPicPr>
        <p:blipFill>
          <a:blip r:embed="rId4"/>
          <a:stretch>
            <a:fillRect/>
          </a:stretch>
        </p:blipFill>
        <p:spPr>
          <a:xfrm>
            <a:off x="440322" y="3980825"/>
            <a:ext cx="9451910" cy="258761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8290A9ED-BCA8-0F6A-C787-51884ABE9780}"/>
              </a:ext>
            </a:extLst>
          </p:cNvPr>
          <p:cNvSpPr>
            <a:spLocks noGrp="1"/>
          </p:cNvSpPr>
          <p:nvPr>
            <p:ph type="body" sz="quarter" idx="12"/>
          </p:nvPr>
        </p:nvSpPr>
        <p:spPr/>
        <p:txBody>
          <a:bodyPr/>
          <a:lstStyle/>
          <a:p>
            <a:endParaRPr lang="en-IN" dirty="0"/>
          </a:p>
        </p:txBody>
      </p:sp>
      <p:pic>
        <p:nvPicPr>
          <p:cNvPr id="9" name="Picture 8">
            <a:extLst>
              <a:ext uri="{FF2B5EF4-FFF2-40B4-BE49-F238E27FC236}">
                <a16:creationId xmlns:a16="http://schemas.microsoft.com/office/drawing/2014/main" id="{F49DEF1E-856C-3077-C1C5-E9C867458231}"/>
              </a:ext>
            </a:extLst>
          </p:cNvPr>
          <p:cNvPicPr>
            <a:picLocks noChangeAspect="1"/>
          </p:cNvPicPr>
          <p:nvPr/>
        </p:nvPicPr>
        <p:blipFill>
          <a:blip r:embed="rId3"/>
          <a:stretch>
            <a:fillRect/>
          </a:stretch>
        </p:blipFill>
        <p:spPr>
          <a:xfrm>
            <a:off x="512688" y="1480645"/>
            <a:ext cx="4422850" cy="4192368"/>
          </a:xfrm>
          <a:prstGeom prst="rect">
            <a:avLst/>
          </a:prstGeom>
        </p:spPr>
      </p:pic>
      <p:pic>
        <p:nvPicPr>
          <p:cNvPr id="12" name="Picture 11">
            <a:extLst>
              <a:ext uri="{FF2B5EF4-FFF2-40B4-BE49-F238E27FC236}">
                <a16:creationId xmlns:a16="http://schemas.microsoft.com/office/drawing/2014/main" id="{065A3F77-CA87-30F8-9459-52221EE35A0A}"/>
              </a:ext>
            </a:extLst>
          </p:cNvPr>
          <p:cNvPicPr>
            <a:picLocks noChangeAspect="1"/>
          </p:cNvPicPr>
          <p:nvPr/>
        </p:nvPicPr>
        <p:blipFill>
          <a:blip r:embed="rId4"/>
          <a:stretch>
            <a:fillRect/>
          </a:stretch>
        </p:blipFill>
        <p:spPr>
          <a:xfrm>
            <a:off x="5474006" y="81340"/>
            <a:ext cx="6057594" cy="6858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9555C89-D9D5-082F-90B8-5B16D139E5DB}"/>
              </a:ext>
            </a:extLst>
          </p:cNvPr>
          <p:cNvSpPr txBox="1"/>
          <p:nvPr/>
        </p:nvSpPr>
        <p:spPr>
          <a:xfrm>
            <a:off x="320982" y="1679510"/>
            <a:ext cx="10011746" cy="4247317"/>
          </a:xfrm>
          <a:prstGeom prst="rect">
            <a:avLst/>
          </a:prstGeom>
          <a:noFill/>
        </p:spPr>
        <p:txBody>
          <a:bodyPr wrap="square" rtlCol="0">
            <a:spAutoFit/>
          </a:bodyPr>
          <a:lstStyle/>
          <a:p>
            <a:pPr lvl="0"/>
            <a:r>
              <a:rPr lang="en-IN" b="1" dirty="0"/>
              <a:t>Yield Prediction:</a:t>
            </a:r>
            <a:r>
              <a:rPr lang="en-IN" dirty="0"/>
              <a:t> In future, we can use machine learning to predict crop yield for different seasons. </a:t>
            </a:r>
          </a:p>
          <a:p>
            <a:pPr lvl="0"/>
            <a:r>
              <a:rPr lang="en-IN" b="1" dirty="0"/>
              <a:t>Weather Data:</a:t>
            </a:r>
            <a:r>
              <a:rPr lang="en-IN" dirty="0"/>
              <a:t> We can add live weather data like rainfall, temperature, and humidity to get better results. </a:t>
            </a:r>
          </a:p>
          <a:p>
            <a:pPr lvl="0"/>
            <a:r>
              <a:rPr lang="en-IN" b="1" dirty="0"/>
              <a:t>Smart Irrigation:</a:t>
            </a:r>
            <a:r>
              <a:rPr lang="en-IN" dirty="0"/>
              <a:t> We can make a system that helps farmers choose the best irrigation method and save water. </a:t>
            </a:r>
          </a:p>
          <a:p>
            <a:pPr lvl="0"/>
            <a:r>
              <a:rPr lang="en-IN" b="1" dirty="0"/>
              <a:t>Disease Prediction:</a:t>
            </a:r>
            <a:r>
              <a:rPr lang="en-IN" dirty="0"/>
              <a:t> We can predict the chances of crop diseases and pests using the available data. </a:t>
            </a:r>
          </a:p>
          <a:p>
            <a:pPr lvl="0"/>
            <a:r>
              <a:rPr lang="en-IN" b="1" dirty="0"/>
              <a:t>More Data:</a:t>
            </a:r>
            <a:r>
              <a:rPr lang="en-IN" dirty="0"/>
              <a:t> We can add more states, districts, crops, and seasons to make the project bigger and more useful. </a:t>
            </a:r>
          </a:p>
          <a:p>
            <a:pPr lvl="0"/>
            <a:r>
              <a:rPr lang="en-IN" b="1" dirty="0"/>
              <a:t>Dashboard:</a:t>
            </a:r>
            <a:r>
              <a:rPr lang="en-IN" dirty="0"/>
              <a:t> We can create a simple Power BI or Tableau dashboard so users can easily see the results. </a:t>
            </a:r>
          </a:p>
          <a:p>
            <a:pPr lvl="0"/>
            <a:r>
              <a:rPr lang="en-IN" b="1" dirty="0"/>
              <a:t>Better Planning:</a:t>
            </a:r>
            <a:r>
              <a:rPr lang="en-IN" dirty="0"/>
              <a:t> The results can help farmers and agriculture departments make better plans for different seasons.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2542542" y="342900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A90A60C9-EBF2-3F75-E00D-60D317B4F49C}"/>
              </a:ext>
            </a:extLst>
          </p:cNvPr>
          <p:cNvSpPr txBox="1"/>
          <p:nvPr/>
        </p:nvSpPr>
        <p:spPr>
          <a:xfrm>
            <a:off x="317240" y="2428216"/>
            <a:ext cx="9682844" cy="369332"/>
          </a:xfrm>
          <a:prstGeom prst="rect">
            <a:avLst/>
          </a:prstGeom>
          <a:noFill/>
        </p:spPr>
        <p:txBody>
          <a:bodyPr wrap="none" rtlCol="0">
            <a:spAutoFit/>
          </a:bodyPr>
          <a:lstStyle/>
          <a:p>
            <a:r>
              <a:rPr lang="en-IN" dirty="0"/>
              <a:t>https://github.com/nikhilmadaan2024-star/Seasonal-Agriculture-Performances-Analysis.git</a:t>
            </a:r>
          </a:p>
        </p:txBody>
      </p:sp>
      <p:sp>
        <p:nvSpPr>
          <p:cNvPr id="9" name="TextBox 8">
            <a:extLst>
              <a:ext uri="{FF2B5EF4-FFF2-40B4-BE49-F238E27FC236}">
                <a16:creationId xmlns:a16="http://schemas.microsoft.com/office/drawing/2014/main" id="{C09710C7-C6F4-4500-2221-BA0BD272E5A7}"/>
              </a:ext>
            </a:extLst>
          </p:cNvPr>
          <p:cNvSpPr txBox="1"/>
          <p:nvPr/>
        </p:nvSpPr>
        <p:spPr>
          <a:xfrm>
            <a:off x="1211813" y="1424461"/>
            <a:ext cx="7669763" cy="646331"/>
          </a:xfrm>
          <a:prstGeom prst="rect">
            <a:avLst/>
          </a:prstGeom>
          <a:noFill/>
        </p:spPr>
        <p:txBody>
          <a:bodyPr wrap="square">
            <a:spAutoFit/>
          </a:bodyPr>
          <a:lstStyle/>
          <a:p>
            <a:r>
              <a:rPr lang="en-IN" dirty="0">
                <a:hlinkClick r:id="rId3"/>
              </a:rPr>
              <a:t>https</a:t>
            </a:r>
            <a:r>
              <a:rPr lang="en-IN" dirty="0">
                <a:hlinkClick r:id="rId3"/>
              </a:rPr>
              <a:t>://github.com/nikhilmadaan2024-star/Seasonal-Agriculture-Performances-Analysis.git</a:t>
            </a:r>
            <a:endParaRPr lang="en-IN" dirty="0"/>
          </a:p>
        </p:txBody>
      </p:sp>
      <p:sp>
        <p:nvSpPr>
          <p:cNvPr id="10" name="TextBox 9">
            <a:extLst>
              <a:ext uri="{FF2B5EF4-FFF2-40B4-BE49-F238E27FC236}">
                <a16:creationId xmlns:a16="http://schemas.microsoft.com/office/drawing/2014/main" id="{2BCED23F-77B4-36C2-0054-F382288CC9D1}"/>
              </a:ext>
            </a:extLst>
          </p:cNvPr>
          <p:cNvSpPr txBox="1"/>
          <p:nvPr/>
        </p:nvSpPr>
        <p:spPr>
          <a:xfrm>
            <a:off x="541176" y="1424461"/>
            <a:ext cx="764953" cy="369332"/>
          </a:xfrm>
          <a:prstGeom prst="rect">
            <a:avLst/>
          </a:prstGeom>
          <a:noFill/>
        </p:spPr>
        <p:txBody>
          <a:bodyPr wrap="none" rtlCol="0">
            <a:spAutoFit/>
          </a:bodyPr>
          <a:lstStyle/>
          <a:p>
            <a:r>
              <a:rPr lang="en-US" dirty="0"/>
              <a:t>Link :</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054ECD8-AF14-28E1-8ADB-BC55745F4728}"/>
              </a:ext>
            </a:extLst>
          </p:cNvPr>
          <p:cNvPicPr>
            <a:picLocks noChangeAspect="1"/>
          </p:cNvPicPr>
          <p:nvPr/>
        </p:nvPicPr>
        <p:blipFill>
          <a:blip r:embed="rId3"/>
          <a:stretch>
            <a:fillRect/>
          </a:stretch>
        </p:blipFill>
        <p:spPr>
          <a:xfrm>
            <a:off x="489181" y="1402495"/>
            <a:ext cx="8724939" cy="526246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1416</TotalTime>
  <Words>628</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This project analyzes agricultural data across different seasons, crops, states, and farming conditions. It studies yield, production, environmental factors, resource usage, irrigation, market prices, revenue, and profit to identify meaningful patterns and relationships. The analysis uses Python, statistical methods, and data visualizations to understand seasonal  performance and provide evidence-based insights for better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Nikhil Madaan</cp:lastModifiedBy>
  <cp:revision>102</cp:revision>
  <dcterms:created xsi:type="dcterms:W3CDTF">2021-07-11T13:13:15Z</dcterms:created>
  <dcterms:modified xsi:type="dcterms:W3CDTF">2026-09-10T12:42:17Z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